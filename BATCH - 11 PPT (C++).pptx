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8"/>
  </p:notesMasterIdLst>
  <p:sldIdLst>
    <p:sldId id="256" r:id="rId5"/>
    <p:sldId id="257" r:id="rId6"/>
    <p:sldId id="268" r:id="rId7"/>
    <p:sldId id="271" r:id="rId8"/>
    <p:sldId id="272" r:id="rId9"/>
    <p:sldId id="270" r:id="rId10"/>
    <p:sldId id="273" r:id="rId11"/>
    <p:sldId id="274" r:id="rId12"/>
    <p:sldId id="275" r:id="rId13"/>
    <p:sldId id="276" r:id="rId14"/>
    <p:sldId id="277" r:id="rId15"/>
    <p:sldId id="278" r:id="rId16"/>
    <p:sldId id="269" r:id="rId17"/>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86215" autoAdjust="0"/>
  </p:normalViewPr>
  <p:slideViewPr>
    <p:cSldViewPr>
      <p:cViewPr varScale="1">
        <p:scale>
          <a:sx n="67" d="100"/>
          <a:sy n="67" d="100"/>
        </p:scale>
        <p:origin x="2006"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nukuru Deepika" userId="87ed33a3b411eab1" providerId="LiveId" clId="{19A6CF64-CCED-42C7-ABBD-6421F8958020}"/>
    <pc:docChg chg="custSel modSld">
      <pc:chgData name="Unukuru Deepika" userId="87ed33a3b411eab1" providerId="LiveId" clId="{19A6CF64-CCED-42C7-ABBD-6421F8958020}" dt="2026-10-26T10:09:10.355" v="30" actId="1076"/>
      <pc:docMkLst>
        <pc:docMk/>
      </pc:docMkLst>
      <pc:sldChg chg="addSp delSp modSp mod">
        <pc:chgData name="Unukuru Deepika" userId="87ed33a3b411eab1" providerId="LiveId" clId="{19A6CF64-CCED-42C7-ABBD-6421F8958020}" dt="2026-10-26T10:09:10.355" v="30" actId="1076"/>
        <pc:sldMkLst>
          <pc:docMk/>
          <pc:sldMk cId="3972877235" sldId="277"/>
        </pc:sldMkLst>
        <pc:spChg chg="mod">
          <ac:chgData name="Unukuru Deepika" userId="87ed33a3b411eab1" providerId="LiveId" clId="{19A6CF64-CCED-42C7-ABBD-6421F8958020}" dt="2026-10-26T10:04:50.643" v="6" actId="20577"/>
          <ac:spMkLst>
            <pc:docMk/>
            <pc:sldMk cId="3972877235" sldId="277"/>
            <ac:spMk id="12" creationId="{34DD3D3A-A0E6-DE83-9C43-7043747E0ACC}"/>
          </ac:spMkLst>
        </pc:spChg>
        <pc:spChg chg="del mod">
          <ac:chgData name="Unukuru Deepika" userId="87ed33a3b411eab1" providerId="LiveId" clId="{19A6CF64-CCED-42C7-ABBD-6421F8958020}" dt="2026-10-26T10:07:17.369" v="12" actId="478"/>
          <ac:spMkLst>
            <pc:docMk/>
            <pc:sldMk cId="3972877235" sldId="277"/>
            <ac:spMk id="21" creationId="{443039EC-CEE8-DABA-47B7-EFEFF7476004}"/>
          </ac:spMkLst>
        </pc:spChg>
        <pc:spChg chg="del mod">
          <ac:chgData name="Unukuru Deepika" userId="87ed33a3b411eab1" providerId="LiveId" clId="{19A6CF64-CCED-42C7-ABBD-6421F8958020}" dt="2026-10-26T10:04:52.394" v="8"/>
          <ac:spMkLst>
            <pc:docMk/>
            <pc:sldMk cId="3972877235" sldId="277"/>
            <ac:spMk id="23" creationId="{DA3C689A-2731-38E7-A4D5-0523584D75EF}"/>
          </ac:spMkLst>
        </pc:spChg>
        <pc:picChg chg="add mod">
          <ac:chgData name="Unukuru Deepika" userId="87ed33a3b411eab1" providerId="LiveId" clId="{19A6CF64-CCED-42C7-ABBD-6421F8958020}" dt="2026-10-26T10:08:47.160" v="27" actId="1076"/>
          <ac:picMkLst>
            <pc:docMk/>
            <pc:sldMk cId="3972877235" sldId="277"/>
            <ac:picMk id="3" creationId="{2366C545-4F21-C3DC-C4F5-99A6B4FF0E0F}"/>
          </ac:picMkLst>
        </pc:picChg>
        <pc:picChg chg="add mod">
          <ac:chgData name="Unukuru Deepika" userId="87ed33a3b411eab1" providerId="LiveId" clId="{19A6CF64-CCED-42C7-ABBD-6421F8958020}" dt="2026-10-26T10:09:10.355" v="30" actId="1076"/>
          <ac:picMkLst>
            <pc:docMk/>
            <pc:sldMk cId="3972877235" sldId="277"/>
            <ac:picMk id="5" creationId="{B7307FFF-2739-F3A9-4EA7-2F60DDA3C3A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26-10-2026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7E471F2-2083-493A-8C9E-53209FFA1EC8}" type="slidenum">
              <a:rPr lang="en-IN" smtClean="0"/>
              <a:t>1</a:t>
            </a:fld>
            <a:endParaRPr lang="en-IN"/>
          </a:p>
        </p:txBody>
      </p:sp>
    </p:spTree>
    <p:extLst>
      <p:ext uri="{BB962C8B-B14F-4D97-AF65-F5344CB8AC3E}">
        <p14:creationId xmlns:p14="http://schemas.microsoft.com/office/powerpoint/2010/main" val="2326097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2743442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10/26/2026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6.jp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499176"/>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Object Oriented Programming with C++ Project</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23718" y="2209800"/>
            <a:ext cx="8751412" cy="4625625"/>
          </a:xfrm>
          <a:prstGeom prst="rect">
            <a:avLst/>
          </a:prstGeom>
        </p:spPr>
        <p:txBody>
          <a:bodyPr vert="horz" wrap="square" lIns="0" tIns="16510" rIns="0" bIns="0" rtlCol="0">
            <a:spAutoFit/>
          </a:bodyPr>
          <a:lstStyle/>
          <a:p>
            <a:pPr algn="ctr">
              <a:lnSpc>
                <a:spcPct val="100000"/>
              </a:lnSpc>
              <a:spcBef>
                <a:spcPts val="130"/>
              </a:spcBef>
            </a:pPr>
            <a:r>
              <a:rPr lang="en-IN" sz="3200" dirty="0">
                <a:latin typeface="Times New Roman" panose="02020603050405020304" pitchFamily="18" charset="0"/>
                <a:cs typeface="Times New Roman" panose="02020603050405020304" pitchFamily="18" charset="0"/>
              </a:rPr>
              <a:t>Employee Payroll System</a:t>
            </a:r>
          </a:p>
          <a:p>
            <a:pPr algn="ctr">
              <a:lnSpc>
                <a:spcPct val="100000"/>
              </a:lnSpc>
              <a:spcBef>
                <a:spcPts val="130"/>
              </a:spcBef>
            </a:pPr>
            <a:endParaRPr lang="en-IN" sz="3200" dirty="0">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US"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U. Deepika (25B11AIC25)</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  B. Sri Chandana (25B11AI129)</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Y. Renuka Lahari (25B11AIC88)</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   </a:t>
            </a:r>
            <a:r>
              <a:rPr lang="en-IN" sz="2000" spc="-10" dirty="0" smtClean="0">
                <a:solidFill>
                  <a:srgbClr val="17375E"/>
                </a:solidFill>
                <a:latin typeface="Times New Roman" panose="02020603050405020304" pitchFamily="18" charset="0"/>
                <a:cs typeface="Times New Roman" panose="02020603050405020304" pitchFamily="18" charset="0"/>
              </a:rPr>
              <a:t>Ch. </a:t>
            </a:r>
            <a:r>
              <a:rPr lang="en-IN" sz="2000" spc="-10" dirty="0">
                <a:solidFill>
                  <a:srgbClr val="17375E"/>
                </a:solidFill>
                <a:latin typeface="Times New Roman" panose="02020603050405020304" pitchFamily="18" charset="0"/>
                <a:cs typeface="Times New Roman" panose="02020603050405020304" pitchFamily="18" charset="0"/>
              </a:rPr>
              <a:t>Sahithi (25B11AI210)</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Artificial Intelligence &amp;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6133730"/>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Problem Statement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Objectives</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Proposed System</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Flowchart</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 concepts used</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Modules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Sample Output</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290750" y="1283970"/>
            <a:ext cx="9448800" cy="4498091"/>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Employee Payroll System</a:t>
            </a:r>
            <a:r>
              <a:rPr lang="en-IN" sz="2000" dirty="0">
                <a:latin typeface="Times New Roman" panose="02020603050405020304" pitchFamily="18" charset="0"/>
                <a:cs typeface="Times New Roman" panose="02020603050405020304" pitchFamily="18" charset="0"/>
              </a:rPr>
              <a:t> is a C++ based application developed to manage employee</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salary details efficiently.</a:t>
            </a:r>
          </a:p>
          <a:p>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stores basic employee information such as employee ID, name, and salary.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calculates gross salary, deductions, and net salary.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reduces manual calculations and minimizes errors.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provides a simple </a:t>
            </a:r>
            <a:r>
              <a:rPr lang="en-IN" sz="2000" b="1" dirty="0">
                <a:latin typeface="Times New Roman" panose="02020603050405020304" pitchFamily="18" charset="0"/>
                <a:cs typeface="Times New Roman" panose="02020603050405020304" pitchFamily="18" charset="0"/>
              </a:rPr>
              <a:t>menu-driven interface</a:t>
            </a:r>
            <a:r>
              <a:rPr lang="en-IN" sz="2000" dirty="0">
                <a:latin typeface="Times New Roman" panose="02020603050405020304" pitchFamily="18" charset="0"/>
                <a:cs typeface="Times New Roman" panose="02020603050405020304" pitchFamily="18" charset="0"/>
              </a:rPr>
              <a:t> for performing payroll operations.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project demonstrates the practical use of C++ programming concepts. </a:t>
            </a:r>
          </a:p>
          <a:p>
            <a:pPr marL="342900" indent="-342900" algn="just">
              <a:lnSpc>
                <a:spcPct val="150000"/>
              </a:lnSpc>
              <a:buFont typeface="Arial" panose="020B0604020202020204" pitchFamily="34" charset="0"/>
              <a:buChar char="•"/>
            </a:pPr>
            <a:endParaRPr lang="en-US" sz="2000" dirty="0"/>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505200" y="432593"/>
            <a:ext cx="2819400" cy="355225"/>
          </a:xfrm>
          <a:prstGeom prst="rect">
            <a:avLst/>
          </a:prstGeom>
        </p:spPr>
        <p:txBody>
          <a:bodyPr vert="horz" wrap="square" lIns="0" tIns="16510" rIns="0" bIns="0" rtlCol="0">
            <a:spAutoFit/>
          </a:bodyPr>
          <a:lstStyle/>
          <a:p>
            <a:pPr marL="12700" algn="ctr">
              <a:lnSpc>
                <a:spcPct val="100000"/>
              </a:lnSpc>
              <a:spcBef>
                <a:spcPts val="130"/>
              </a:spcBef>
            </a:pPr>
            <a:r>
              <a:rPr lang="en-US" sz="2200" dirty="0">
                <a:solidFill>
                  <a:schemeClr val="bg1"/>
                </a:solidFill>
                <a:latin typeface="Times New Roman" panose="02020603050405020304" pitchFamily="18" charset="0"/>
                <a:cs typeface="Times New Roman" panose="02020603050405020304" pitchFamily="18" charset="0"/>
              </a:rPr>
              <a:t>Abstract</a:t>
            </a:r>
            <a:endParaRPr lang="en-IN" sz="220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22AE2-F2C5-2727-B6FC-1E5102CDC82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B1F1AA2-D1E0-F698-0B08-2EB6F13AC39E}"/>
              </a:ext>
            </a:extLst>
          </p:cNvPr>
          <p:cNvSpPr txBox="1"/>
          <p:nvPr/>
        </p:nvSpPr>
        <p:spPr>
          <a:xfrm>
            <a:off x="304800" y="1255395"/>
            <a:ext cx="9448800" cy="4499758"/>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Payroll management is an important task in every organization for maintaining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employee salary information.</a:t>
            </a:r>
          </a:p>
          <a:p>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Manual payroll processing requires more time and effort.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Repeated calculations may result in errors.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proposed system automates basic salary calculations.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Employees can be added and their payroll details can be displayed.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is implemented using </a:t>
            </a:r>
            <a:r>
              <a:rPr lang="en-IN" sz="2000" b="1" dirty="0">
                <a:latin typeface="Times New Roman" panose="02020603050405020304" pitchFamily="18" charset="0"/>
                <a:cs typeface="Times New Roman" panose="02020603050405020304" pitchFamily="18" charset="0"/>
              </a:rPr>
              <a:t>C++</a:t>
            </a:r>
            <a:r>
              <a:rPr lang="en-IN" sz="2000" dirty="0">
                <a:latin typeface="Times New Roman" panose="02020603050405020304" pitchFamily="18" charset="0"/>
                <a:cs typeface="Times New Roman" panose="02020603050405020304" pitchFamily="18" charset="0"/>
              </a:rPr>
              <a:t> as a console-based application. </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091643DE-59AF-75E4-1C58-3307BEA1FE65}"/>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93C86D11-C540-8988-6FFC-CA26934D99BE}"/>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544A861D-DA6C-993F-1AAB-CDEEA2949D58}"/>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39E63305-C8E9-C7A8-8DD6-1AFEEA76C79A}"/>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3C85C403-B2E0-6141-8698-747FFE4B5C9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09709F3-F2A0-3E3F-BEA9-B735044A2929}"/>
              </a:ext>
            </a:extLst>
          </p:cNvPr>
          <p:cNvSpPr txBox="1">
            <a:spLocks noGrp="1"/>
          </p:cNvSpPr>
          <p:nvPr>
            <p:ph type="title"/>
          </p:nvPr>
        </p:nvSpPr>
        <p:spPr>
          <a:xfrm>
            <a:off x="3866674" y="421083"/>
            <a:ext cx="2167890" cy="355225"/>
          </a:xfrm>
          <a:prstGeom prst="rect">
            <a:avLst/>
          </a:prstGeom>
        </p:spPr>
        <p:txBody>
          <a:bodyPr vert="horz" wrap="square" lIns="0" tIns="16510" rIns="0" bIns="0" rtlCol="0">
            <a:spAutoFit/>
          </a:bodyPr>
          <a:lstStyle/>
          <a:p>
            <a:pPr marL="12700" algn="ctr">
              <a:lnSpc>
                <a:spcPct val="100000"/>
              </a:lnSpc>
              <a:spcBef>
                <a:spcPts val="130"/>
              </a:spcBef>
            </a:pPr>
            <a:r>
              <a:rPr lang="en-US" sz="2200" dirty="0">
                <a:solidFill>
                  <a:schemeClr val="bg1"/>
                </a:solidFill>
                <a:latin typeface="Times New Roman" panose="02020603050405020304" pitchFamily="18" charset="0"/>
                <a:cs typeface="Times New Roman" panose="02020603050405020304" pitchFamily="18" charset="0"/>
              </a:rPr>
              <a:t>Introduction</a:t>
            </a:r>
            <a:endParaRPr lang="en-IN" sz="220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256C8018-C5EC-E80A-9541-373701E301BF}"/>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162778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745BF-22CA-A05A-9743-8071EF7F1D3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79AB62F-A232-4669-B953-521E65A69299}"/>
              </a:ext>
            </a:extLst>
          </p:cNvPr>
          <p:cNvSpPr txBox="1"/>
          <p:nvPr/>
        </p:nvSpPr>
        <p:spPr>
          <a:xfrm>
            <a:off x="381000" y="1283970"/>
            <a:ext cx="9448800" cy="5115311"/>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Managing employee salary details manually can be difficult and time-consuming.</a:t>
            </a:r>
          </a:p>
          <a:p>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Manual calculations may lead to incorrect salary results.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Maintaining employee records manually is less efficient.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Calculating allowances and deductions repeatedly requires additional effort.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can be difficult to quickly retrieve an employee's salary information. </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Problem:</a:t>
            </a:r>
          </a:p>
          <a:p>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To develop a simple C++ application that manages employee information and performs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payroll calculations accurately and efficiently.</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39D89497-B67B-B90D-CC13-CC33528927CB}"/>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562237DF-24BD-E272-CBD7-4DC172FA9747}"/>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8CB4B12D-6438-5049-5300-458942070D83}"/>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1BD6E85D-B739-AD79-AEAF-FFEF8E1FB9EF}"/>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362470DA-1174-C27D-2B3D-C50B6B06DDD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E3AF789-F6B5-1D4C-733E-805088E5AA8D}"/>
              </a:ext>
            </a:extLst>
          </p:cNvPr>
          <p:cNvSpPr txBox="1">
            <a:spLocks noGrp="1"/>
          </p:cNvSpPr>
          <p:nvPr>
            <p:ph type="title"/>
          </p:nvPr>
        </p:nvSpPr>
        <p:spPr>
          <a:xfrm>
            <a:off x="3505200" y="396330"/>
            <a:ext cx="3047999" cy="355225"/>
          </a:xfrm>
          <a:prstGeom prst="rect">
            <a:avLst/>
          </a:prstGeom>
        </p:spPr>
        <p:txBody>
          <a:bodyPr vert="horz" wrap="square" lIns="0" tIns="16510" rIns="0" bIns="0" rtlCol="0">
            <a:spAutoFit/>
          </a:bodyPr>
          <a:lstStyle/>
          <a:p>
            <a:pPr marL="12700" algn="ctr">
              <a:lnSpc>
                <a:spcPct val="100000"/>
              </a:lnSpc>
              <a:spcBef>
                <a:spcPts val="130"/>
              </a:spcBef>
            </a:pPr>
            <a:r>
              <a:rPr lang="en-US" sz="2200" dirty="0">
                <a:solidFill>
                  <a:schemeClr val="bg1"/>
                </a:solidFill>
                <a:latin typeface="Times New Roman" panose="02020603050405020304" pitchFamily="18" charset="0"/>
                <a:cs typeface="Times New Roman" panose="02020603050405020304" pitchFamily="18" charset="0"/>
              </a:rPr>
              <a:t>Problem Statement</a:t>
            </a:r>
            <a:endParaRPr lang="en-IN" sz="220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9CECE07D-3B85-B726-3359-9B0978F7E54D}"/>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113031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AD173-64DC-1FEB-8A41-53DA99E9B90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E473C04-2016-F174-070F-DAB5EF7754F2}"/>
              </a:ext>
            </a:extLst>
          </p:cNvPr>
          <p:cNvSpPr txBox="1"/>
          <p:nvPr/>
        </p:nvSpPr>
        <p:spPr>
          <a:xfrm>
            <a:off x="381000" y="1323261"/>
            <a:ext cx="9448800" cy="5113644"/>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The main objectives of the Employee Payroll System are:</a:t>
            </a:r>
          </a:p>
          <a:p>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maintain basic employee information.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calculate employee salary automatically.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calculate </a:t>
            </a:r>
            <a:r>
              <a:rPr lang="en-IN" sz="2000" b="1" dirty="0">
                <a:latin typeface="Times New Roman" panose="02020603050405020304" pitchFamily="18" charset="0"/>
                <a:cs typeface="Times New Roman" panose="02020603050405020304" pitchFamily="18" charset="0"/>
              </a:rPr>
              <a:t>gross salary and net salary</a:t>
            </a:r>
            <a:r>
              <a:rPr lang="en-IN" sz="20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reduce manual calculation and errors.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provide a simple and user-friendly menu-driven system.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demonstrate the use of </a:t>
            </a:r>
            <a:r>
              <a:rPr lang="en-IN" sz="2000" b="1" dirty="0">
                <a:latin typeface="Times New Roman" panose="02020603050405020304" pitchFamily="18" charset="0"/>
                <a:cs typeface="Times New Roman" panose="02020603050405020304" pitchFamily="18" charset="0"/>
              </a:rPr>
              <a:t>C++ programming concepts</a:t>
            </a:r>
            <a:r>
              <a:rPr lang="en-IN" sz="2000" dirty="0">
                <a:latin typeface="Times New Roman" panose="02020603050405020304" pitchFamily="18" charset="0"/>
                <a:cs typeface="Times New Roman" panose="02020603050405020304" pitchFamily="18" charset="0"/>
              </a:rPr>
              <a:t> in a real-world</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application. </a:t>
            </a:r>
          </a:p>
          <a:p>
            <a:pPr marL="342900" indent="-342900" algn="just">
              <a:lnSpc>
                <a:spcPct val="150000"/>
              </a:lnSpc>
              <a:buFont typeface="Arial" panose="020B0604020202020204" pitchFamily="34" charset="0"/>
              <a:buChar char="•"/>
            </a:pPr>
            <a:endParaRPr lang="en-US" sz="2000" dirty="0"/>
          </a:p>
        </p:txBody>
      </p:sp>
      <p:grpSp>
        <p:nvGrpSpPr>
          <p:cNvPr id="7" name="object 3">
            <a:extLst>
              <a:ext uri="{FF2B5EF4-FFF2-40B4-BE49-F238E27FC236}">
                <a16:creationId xmlns:a16="http://schemas.microsoft.com/office/drawing/2014/main" id="{83284400-1DD3-E795-704A-1675F6EFBBE3}"/>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3AC2F1B3-59B1-99E7-F6F3-99873CC56613}"/>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70ADAE7-39A7-7888-F03B-1B4A52D8B34B}"/>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10D4E804-CD7C-D0E3-3C8C-E142846365E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BFCFD16F-A022-FD67-FE1D-F811408DB2A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26A07D96-B77F-65B5-2236-916109967FF3}"/>
              </a:ext>
            </a:extLst>
          </p:cNvPr>
          <p:cNvSpPr txBox="1">
            <a:spLocks noGrp="1"/>
          </p:cNvSpPr>
          <p:nvPr>
            <p:ph type="title"/>
          </p:nvPr>
        </p:nvSpPr>
        <p:spPr>
          <a:xfrm>
            <a:off x="4114800" y="405038"/>
            <a:ext cx="1464945" cy="355225"/>
          </a:xfrm>
          <a:prstGeom prst="rect">
            <a:avLst/>
          </a:prstGeom>
        </p:spPr>
        <p:txBody>
          <a:bodyPr vert="horz" wrap="square" lIns="0" tIns="16510" rIns="0" bIns="0" rtlCol="0">
            <a:spAutoFit/>
          </a:bodyPr>
          <a:lstStyle/>
          <a:p>
            <a:pPr marL="12700" algn="ctr">
              <a:lnSpc>
                <a:spcPct val="100000"/>
              </a:lnSpc>
              <a:spcBef>
                <a:spcPts val="130"/>
              </a:spcBef>
            </a:pPr>
            <a:r>
              <a:rPr lang="en-US" sz="2200" dirty="0">
                <a:solidFill>
                  <a:schemeClr val="bg1"/>
                </a:solidFill>
                <a:latin typeface="Times New Roman" panose="02020603050405020304" pitchFamily="18" charset="0"/>
                <a:cs typeface="Times New Roman" panose="02020603050405020304" pitchFamily="18" charset="0"/>
              </a:rPr>
              <a:t>O</a:t>
            </a:r>
            <a:r>
              <a:rPr lang="en-IN" sz="2200" dirty="0" err="1">
                <a:solidFill>
                  <a:schemeClr val="bg1"/>
                </a:solidFill>
                <a:latin typeface="Times New Roman" panose="02020603050405020304" pitchFamily="18" charset="0"/>
                <a:cs typeface="Times New Roman" panose="02020603050405020304" pitchFamily="18" charset="0"/>
              </a:rPr>
              <a:t>bjectives</a:t>
            </a:r>
            <a:endParaRPr lang="en-IN" sz="220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0A782736-5954-E6A4-04E0-626F5FC3BDB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820737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294EB-F60D-0DD1-5FA1-04A706B356F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74E265C-781E-B18F-CB01-4975A01A4411}"/>
              </a:ext>
            </a:extLst>
          </p:cNvPr>
          <p:cNvSpPr txBox="1"/>
          <p:nvPr/>
        </p:nvSpPr>
        <p:spPr>
          <a:xfrm>
            <a:off x="287377" y="810417"/>
            <a:ext cx="9448800" cy="7017306"/>
          </a:xfrm>
          <a:prstGeom prst="rect">
            <a:avLst/>
          </a:prstGeom>
          <a:noFill/>
        </p:spPr>
        <p:txBody>
          <a:bodyPr wrap="square" rtlCol="0">
            <a:spAutoFit/>
          </a:bodyPr>
          <a:lstStyle/>
          <a:p>
            <a:r>
              <a:rPr lang="en-IN" dirty="0"/>
              <a:t>The proposed system is a </a:t>
            </a:r>
            <a:r>
              <a:rPr lang="en-IN" b="1" dirty="0"/>
              <a:t>menu-driven C++ application</a:t>
            </a:r>
            <a:r>
              <a:rPr lang="en-IN" dirty="0"/>
              <a:t> for managing employee</a:t>
            </a:r>
          </a:p>
          <a:p>
            <a:endParaRPr lang="en-IN" dirty="0"/>
          </a:p>
          <a:p>
            <a:r>
              <a:rPr lang="en-IN" dirty="0"/>
              <a:t>payroll.</a:t>
            </a:r>
          </a:p>
          <a:p>
            <a:endParaRPr lang="en-IN" dirty="0"/>
          </a:p>
          <a:p>
            <a:r>
              <a:rPr lang="en-IN" b="1" dirty="0"/>
              <a:t>Main Features:</a:t>
            </a:r>
          </a:p>
          <a:p>
            <a:endParaRPr lang="en-IN" b="1" dirty="0"/>
          </a:p>
          <a:p>
            <a:pPr marL="285750" lvl="0" indent="-285750">
              <a:buFont typeface="Arial" panose="020B0604020202020204" pitchFamily="34" charset="0"/>
              <a:buChar char="•"/>
            </a:pPr>
            <a:r>
              <a:rPr lang="en-IN" dirty="0"/>
              <a:t>Add employee details.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Enter basic salary.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Calculate allowances and deductions.</a:t>
            </a:r>
          </a:p>
          <a:p>
            <a:pPr marL="285750" lvl="0" indent="-285750">
              <a:buFont typeface="Arial" panose="020B0604020202020204" pitchFamily="34" charset="0"/>
              <a:buChar char="•"/>
            </a:pPr>
            <a:r>
              <a:rPr lang="en-IN" dirty="0"/>
              <a:t> </a:t>
            </a:r>
          </a:p>
          <a:p>
            <a:pPr marL="285750" lvl="0" indent="-285750">
              <a:buFont typeface="Arial" panose="020B0604020202020204" pitchFamily="34" charset="0"/>
              <a:buChar char="•"/>
            </a:pPr>
            <a:r>
              <a:rPr lang="en-IN" dirty="0"/>
              <a:t>Calculate gross salary.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Calculate net salary.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Display employee payroll details.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Exit the application. </a:t>
            </a:r>
          </a:p>
          <a:p>
            <a:pPr lvl="0"/>
            <a:endParaRPr lang="en-IN" dirty="0"/>
          </a:p>
          <a:p>
            <a:r>
              <a:rPr lang="en-IN" b="1" dirty="0"/>
              <a:t>Salary Calculation:</a:t>
            </a:r>
          </a:p>
          <a:p>
            <a:endParaRPr lang="en-IN" b="1" dirty="0"/>
          </a:p>
          <a:p>
            <a:r>
              <a:rPr lang="en-IN" b="1" dirty="0"/>
              <a:t>Gross Salary = Basic Salary + Allowances</a:t>
            </a:r>
          </a:p>
          <a:p>
            <a:endParaRPr lang="en-IN" dirty="0"/>
          </a:p>
          <a:p>
            <a:r>
              <a:rPr lang="en-IN" b="1" dirty="0"/>
              <a:t>Net Salary = Gross Salary − Deductions</a:t>
            </a:r>
            <a:endParaRPr lang="en-IN" dirty="0"/>
          </a:p>
        </p:txBody>
      </p:sp>
      <p:grpSp>
        <p:nvGrpSpPr>
          <p:cNvPr id="7" name="object 3">
            <a:extLst>
              <a:ext uri="{FF2B5EF4-FFF2-40B4-BE49-F238E27FC236}">
                <a16:creationId xmlns:a16="http://schemas.microsoft.com/office/drawing/2014/main" id="{06915F60-F525-560C-31AC-025F2D17AD25}"/>
              </a:ext>
            </a:extLst>
          </p:cNvPr>
          <p:cNvGrpSpPr/>
          <p:nvPr/>
        </p:nvGrpSpPr>
        <p:grpSpPr>
          <a:xfrm>
            <a:off x="2459825" y="2982"/>
            <a:ext cx="5103904" cy="1198311"/>
            <a:chOff x="2648188" y="47148"/>
            <a:chExt cx="5103904" cy="1198311"/>
          </a:xfrm>
        </p:grpSpPr>
        <p:pic>
          <p:nvPicPr>
            <p:cNvPr id="8" name="object 4">
              <a:extLst>
                <a:ext uri="{FF2B5EF4-FFF2-40B4-BE49-F238E27FC236}">
                  <a16:creationId xmlns:a16="http://schemas.microsoft.com/office/drawing/2014/main" id="{D2C2F1F9-648D-3917-7F46-1B6BE90ACA7C}"/>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AB1C62E-AB39-A6A0-C008-8AFFB2E7998A}"/>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23B59091-B149-D0C7-A4E4-77D1ABA3277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71D54B23-448B-5ED1-BCD4-D15B90FD8B9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85CD42F3-A3D7-D2E6-4582-D7CA629BBA66}"/>
              </a:ext>
            </a:extLst>
          </p:cNvPr>
          <p:cNvSpPr txBox="1">
            <a:spLocks noGrp="1"/>
          </p:cNvSpPr>
          <p:nvPr>
            <p:ph type="title"/>
          </p:nvPr>
        </p:nvSpPr>
        <p:spPr>
          <a:xfrm>
            <a:off x="3849251" y="255813"/>
            <a:ext cx="2167890" cy="355225"/>
          </a:xfrm>
          <a:prstGeom prst="rect">
            <a:avLst/>
          </a:prstGeom>
        </p:spPr>
        <p:txBody>
          <a:bodyPr vert="horz" wrap="square" lIns="0" tIns="16510" rIns="0" bIns="0" rtlCol="0">
            <a:spAutoFit/>
          </a:bodyPr>
          <a:lstStyle/>
          <a:p>
            <a:pPr marL="12700">
              <a:lnSpc>
                <a:spcPct val="100000"/>
              </a:lnSpc>
              <a:spcBef>
                <a:spcPts val="130"/>
              </a:spcBef>
            </a:pPr>
            <a:r>
              <a:rPr lang="en-US" sz="2200" dirty="0">
                <a:solidFill>
                  <a:schemeClr val="bg1"/>
                </a:solidFill>
                <a:latin typeface="Times New Roman" panose="02020603050405020304" pitchFamily="18" charset="0"/>
                <a:cs typeface="Times New Roman" panose="02020603050405020304" pitchFamily="18" charset="0"/>
              </a:rPr>
              <a:t>Proposed System</a:t>
            </a:r>
            <a:endParaRPr lang="en-IN" sz="220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E16BEA10-1185-4C7A-8227-C6FBD5305CE4}"/>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627811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304BF-408F-E951-747C-8ED2FC51B2B5}"/>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BA334FB8-0FF4-18D4-E27E-8B31BEC94628}"/>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CF8CF927-152F-4076-0FAE-1A0AACA58966}"/>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01153AE2-B9F5-428A-3F38-961CFFEADE8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61989F0A-8B3F-68F6-E0C0-10FC8356E324}"/>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D0B682D6-A69E-5C85-974D-F8E8B491C92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99AE516-0E5E-16DC-62E8-F35BC770BD15}"/>
              </a:ext>
            </a:extLst>
          </p:cNvPr>
          <p:cNvSpPr txBox="1">
            <a:spLocks noGrp="1"/>
          </p:cNvSpPr>
          <p:nvPr>
            <p:ph type="title"/>
          </p:nvPr>
        </p:nvSpPr>
        <p:spPr>
          <a:xfrm>
            <a:off x="3866674" y="411558"/>
            <a:ext cx="2167890" cy="355225"/>
          </a:xfrm>
          <a:prstGeom prst="rect">
            <a:avLst/>
          </a:prstGeom>
        </p:spPr>
        <p:txBody>
          <a:bodyPr vert="horz" wrap="square" lIns="0" tIns="16510" rIns="0" bIns="0" rtlCol="0">
            <a:spAutoFit/>
          </a:bodyPr>
          <a:lstStyle/>
          <a:p>
            <a:pPr marL="12700">
              <a:lnSpc>
                <a:spcPct val="100000"/>
              </a:lnSpc>
              <a:spcBef>
                <a:spcPts val="130"/>
              </a:spcBef>
            </a:pPr>
            <a:r>
              <a:rPr lang="en-US" sz="2200" dirty="0">
                <a:solidFill>
                  <a:schemeClr val="bg1"/>
                </a:solidFill>
                <a:latin typeface="Times New Roman" panose="02020603050405020304" pitchFamily="18" charset="0"/>
                <a:cs typeface="Times New Roman" panose="02020603050405020304" pitchFamily="18" charset="0"/>
              </a:rPr>
              <a:t>System Flowchart</a:t>
            </a:r>
            <a:endParaRPr lang="en-IN" sz="220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AC1E9146-AEF4-B0BC-6B75-1BF56C0F3846}"/>
              </a:ext>
            </a:extLst>
          </p:cNvPr>
          <p:cNvPicPr/>
          <p:nvPr/>
        </p:nvPicPr>
        <p:blipFill>
          <a:blip r:embed="rId5" cstate="print"/>
          <a:stretch>
            <a:fillRect/>
          </a:stretch>
        </p:blipFill>
        <p:spPr>
          <a:xfrm>
            <a:off x="290750" y="204311"/>
            <a:ext cx="1163002" cy="424338"/>
          </a:xfrm>
          <a:prstGeom prst="rect">
            <a:avLst/>
          </a:prstGeom>
        </p:spPr>
      </p:pic>
      <p:pic>
        <p:nvPicPr>
          <p:cNvPr id="16" name="Picture 15" descr="The diagram illustrates a flowchart for an employee payroll management system, starting from the main menu and proceeding through steps for entering employee details, calculating gross and net salary, and confirming the completion of the operation.&#10;&#10;AI-generated content may be incorrect.">
            <a:extLst>
              <a:ext uri="{FF2B5EF4-FFF2-40B4-BE49-F238E27FC236}">
                <a16:creationId xmlns:a16="http://schemas.microsoft.com/office/drawing/2014/main" id="{84967934-48A1-F515-3DFF-D09E42EBB8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38400" y="1143000"/>
            <a:ext cx="5181600" cy="6437709"/>
          </a:xfrm>
          <a:prstGeom prst="rect">
            <a:avLst/>
          </a:prstGeom>
        </p:spPr>
      </p:pic>
    </p:spTree>
    <p:extLst>
      <p:ext uri="{BB962C8B-B14F-4D97-AF65-F5344CB8AC3E}">
        <p14:creationId xmlns:p14="http://schemas.microsoft.com/office/powerpoint/2010/main" val="1210225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104B2-DE89-E8B5-748F-70F43400CBD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DE9BA2D-6AEA-45BD-C0B1-450E92E5ECA5}"/>
              </a:ext>
            </a:extLst>
          </p:cNvPr>
          <p:cNvSpPr txBox="1"/>
          <p:nvPr/>
        </p:nvSpPr>
        <p:spPr>
          <a:xfrm>
            <a:off x="381000" y="1323261"/>
            <a:ext cx="9448800" cy="5170646"/>
          </a:xfrm>
          <a:prstGeom prst="rect">
            <a:avLst/>
          </a:prstGeom>
          <a:noFill/>
        </p:spPr>
        <p:txBody>
          <a:bodyPr wrap="square" rtlCol="0">
            <a:spAutoFit/>
          </a:bodyPr>
          <a:lstStyle/>
          <a:p>
            <a:r>
              <a:rPr lang="en-IN" sz="2200" dirty="0">
                <a:latin typeface="Times New Roman" panose="02020603050405020304" pitchFamily="18" charset="0"/>
                <a:cs typeface="Times New Roman" panose="02020603050405020304" pitchFamily="18" charset="0"/>
              </a:rPr>
              <a:t>The following C++ concepts are used in the project:</a:t>
            </a:r>
          </a:p>
          <a:p>
            <a:endParaRPr lang="en-IN" sz="2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Classes and Objects</a:t>
            </a:r>
            <a:r>
              <a:rPr lang="en-IN" sz="2200" dirty="0">
                <a:latin typeface="Times New Roman" panose="02020603050405020304" pitchFamily="18" charset="0"/>
                <a:cs typeface="Times New Roman" panose="02020603050405020304" pitchFamily="18" charset="0"/>
              </a:rPr>
              <a:t> – Used to represent employee information. </a:t>
            </a:r>
          </a:p>
          <a:p>
            <a:pPr marL="342900" lvl="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Functions</a:t>
            </a:r>
            <a:r>
              <a:rPr lang="en-IN" sz="2200" dirty="0">
                <a:latin typeface="Times New Roman" panose="02020603050405020304" pitchFamily="18" charset="0"/>
                <a:cs typeface="Times New Roman" panose="02020603050405020304" pitchFamily="18" charset="0"/>
              </a:rPr>
              <a:t> – Used to perform salary calculations and display details. </a:t>
            </a:r>
          </a:p>
          <a:p>
            <a:pPr marL="342900" lvl="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Variables and Data Types</a:t>
            </a:r>
            <a:r>
              <a:rPr lang="en-IN" sz="2200" dirty="0">
                <a:latin typeface="Times New Roman" panose="02020603050405020304" pitchFamily="18" charset="0"/>
                <a:cs typeface="Times New Roman" panose="02020603050405020304" pitchFamily="18" charset="0"/>
              </a:rPr>
              <a:t> – Used to store employee and salary information.</a:t>
            </a:r>
          </a:p>
          <a:p>
            <a:pPr lvl="0"/>
            <a:r>
              <a:rPr lang="en-IN" sz="22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Conditional Statements</a:t>
            </a:r>
            <a:r>
              <a:rPr lang="en-IN" sz="2200" dirty="0">
                <a:latin typeface="Times New Roman" panose="02020603050405020304" pitchFamily="18" charset="0"/>
                <a:cs typeface="Times New Roman" panose="02020603050405020304" pitchFamily="18" charset="0"/>
              </a:rPr>
              <a:t> – Used for decision-making. </a:t>
            </a:r>
          </a:p>
          <a:p>
            <a:pPr marL="342900" lvl="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Loops</a:t>
            </a:r>
            <a:r>
              <a:rPr lang="en-IN" sz="2200" dirty="0">
                <a:latin typeface="Times New Roman" panose="02020603050405020304" pitchFamily="18" charset="0"/>
                <a:cs typeface="Times New Roman" panose="02020603050405020304" pitchFamily="18" charset="0"/>
              </a:rPr>
              <a:t> – Used to repeatedly display and process menu options. </a:t>
            </a:r>
          </a:p>
          <a:p>
            <a:pPr marL="342900" lvl="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Input/Output</a:t>
            </a:r>
            <a:r>
              <a:rPr lang="en-IN" sz="2200" dirty="0">
                <a:latin typeface="Times New Roman" panose="02020603050405020304" pitchFamily="18" charset="0"/>
                <a:cs typeface="Times New Roman" panose="02020603050405020304" pitchFamily="18" charset="0"/>
              </a:rPr>
              <a:t> – </a:t>
            </a:r>
            <a:r>
              <a:rPr lang="en-IN" sz="2200" dirty="0" err="1">
                <a:latin typeface="Times New Roman" panose="02020603050405020304" pitchFamily="18" charset="0"/>
                <a:cs typeface="Times New Roman" panose="02020603050405020304" pitchFamily="18" charset="0"/>
              </a:rPr>
              <a:t>cin</a:t>
            </a:r>
            <a:r>
              <a:rPr lang="en-IN" sz="2200" dirty="0">
                <a:latin typeface="Times New Roman" panose="02020603050405020304" pitchFamily="18" charset="0"/>
                <a:cs typeface="Times New Roman" panose="02020603050405020304" pitchFamily="18" charset="0"/>
              </a:rPr>
              <a:t> and </a:t>
            </a:r>
            <a:r>
              <a:rPr lang="en-IN" sz="2200" dirty="0" err="1">
                <a:latin typeface="Times New Roman" panose="02020603050405020304" pitchFamily="18" charset="0"/>
                <a:cs typeface="Times New Roman" panose="02020603050405020304" pitchFamily="18" charset="0"/>
              </a:rPr>
              <a:t>cout</a:t>
            </a:r>
            <a:r>
              <a:rPr lang="en-IN" sz="2200" dirty="0">
                <a:latin typeface="Times New Roman" panose="02020603050405020304" pitchFamily="18" charset="0"/>
                <a:cs typeface="Times New Roman" panose="02020603050405020304" pitchFamily="18" charset="0"/>
              </a:rPr>
              <a:t> are used for user interaction. </a:t>
            </a:r>
          </a:p>
          <a:p>
            <a:pPr marL="342900" lvl="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Menu-Driven Programming</a:t>
            </a:r>
            <a:r>
              <a:rPr lang="en-IN" sz="2200" dirty="0">
                <a:latin typeface="Times New Roman" panose="02020603050405020304" pitchFamily="18" charset="0"/>
                <a:cs typeface="Times New Roman" panose="02020603050405020304" pitchFamily="18" charset="0"/>
              </a:rPr>
              <a:t> – Allows the user to select different operations</a:t>
            </a:r>
            <a:r>
              <a:rPr lang="en-IN" sz="2000" dirty="0"/>
              <a:t>.</a:t>
            </a:r>
          </a:p>
        </p:txBody>
      </p:sp>
      <p:grpSp>
        <p:nvGrpSpPr>
          <p:cNvPr id="7" name="object 3">
            <a:extLst>
              <a:ext uri="{FF2B5EF4-FFF2-40B4-BE49-F238E27FC236}">
                <a16:creationId xmlns:a16="http://schemas.microsoft.com/office/drawing/2014/main" id="{DACD768E-42A8-3BCF-8435-BA208FFE26DB}"/>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07964195-BB9A-A287-1C44-60FE5919A1E0}"/>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DDCE4237-E4F4-B22D-DA76-6BD0E200B8A0}"/>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2727E6C5-FBFA-08F3-BEAC-64647876EEE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67520EED-D13D-3A88-FD44-ED7CE40E929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6D209D3D-C52F-A1F6-36D9-19A7D19C5955}"/>
              </a:ext>
            </a:extLst>
          </p:cNvPr>
          <p:cNvSpPr txBox="1">
            <a:spLocks noGrp="1"/>
          </p:cNvSpPr>
          <p:nvPr>
            <p:ph type="title"/>
          </p:nvPr>
        </p:nvSpPr>
        <p:spPr>
          <a:xfrm>
            <a:off x="3763327" y="396330"/>
            <a:ext cx="2684145" cy="355225"/>
          </a:xfrm>
          <a:prstGeom prst="rect">
            <a:avLst/>
          </a:prstGeom>
        </p:spPr>
        <p:txBody>
          <a:bodyPr vert="horz" wrap="square" lIns="0" tIns="16510" rIns="0" bIns="0" rtlCol="0">
            <a:spAutoFit/>
          </a:bodyPr>
          <a:lstStyle/>
          <a:p>
            <a:pPr marL="12700" algn="l">
              <a:lnSpc>
                <a:spcPct val="100000"/>
              </a:lnSpc>
              <a:spcBef>
                <a:spcPts val="130"/>
              </a:spcBef>
            </a:pPr>
            <a:r>
              <a:rPr lang="en-US" sz="2200" dirty="0">
                <a:solidFill>
                  <a:schemeClr val="bg1"/>
                </a:solidFill>
                <a:latin typeface="Times New Roman" panose="02020603050405020304" pitchFamily="18" charset="0"/>
                <a:cs typeface="Times New Roman" panose="02020603050405020304" pitchFamily="18" charset="0"/>
              </a:rPr>
              <a:t>C++ Concepts used</a:t>
            </a:r>
            <a:endParaRPr lang="en-IN" sz="220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97F680CA-2B95-765E-92C6-65571C0F9668}"/>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730612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5A408-AF24-C32D-8584-004A254EB16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8220558-B7FD-EAD6-8F87-C9A70B19CD88}"/>
              </a:ext>
            </a:extLst>
          </p:cNvPr>
          <p:cNvSpPr txBox="1"/>
          <p:nvPr/>
        </p:nvSpPr>
        <p:spPr>
          <a:xfrm>
            <a:off x="503872" y="416480"/>
            <a:ext cx="9448800" cy="7571303"/>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Employee Payroll System consists of the following modules:</a:t>
            </a:r>
          </a:p>
          <a:p>
            <a:pPr marL="457200" indent="-457200">
              <a:buAutoNum type="arabicPeriod"/>
            </a:pPr>
            <a:r>
              <a:rPr lang="en-IN" b="1" dirty="0">
                <a:latin typeface="Times New Roman" panose="02020603050405020304" pitchFamily="18" charset="0"/>
                <a:cs typeface="Times New Roman" panose="02020603050405020304" pitchFamily="18" charset="0"/>
              </a:rPr>
              <a:t>Employee Details Module</a:t>
            </a:r>
          </a:p>
          <a:p>
            <a:pPr marL="457200" indent="-457200">
              <a:buAutoNum type="arabicPeriod"/>
            </a:pPr>
            <a:endParaRPr lang="en-IN"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Accepts employee ID and name.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Stores employee information. </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Salary Input Module</a:t>
            </a:r>
          </a:p>
          <a:p>
            <a:endParaRPr lang="en-IN"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Accepts basic salary.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Accepts allowances and deductions. </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3. Payroll Calculation Module</a:t>
            </a:r>
          </a:p>
          <a:p>
            <a:endParaRPr lang="en-IN"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Calculates gross salary.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Calculates net salary. </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4. Display Module</a:t>
            </a:r>
          </a:p>
          <a:p>
            <a:endParaRPr lang="en-IN"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employee details.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complete salary information. </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5. Menu Module</a:t>
            </a:r>
          </a:p>
          <a:p>
            <a:endParaRPr lang="en-IN"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options to the user.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Controls the overall execution of the program. </a:t>
            </a:r>
          </a:p>
        </p:txBody>
      </p:sp>
      <p:grpSp>
        <p:nvGrpSpPr>
          <p:cNvPr id="7" name="object 3">
            <a:extLst>
              <a:ext uri="{FF2B5EF4-FFF2-40B4-BE49-F238E27FC236}">
                <a16:creationId xmlns:a16="http://schemas.microsoft.com/office/drawing/2014/main" id="{FD524447-7811-0E71-AF70-BA118D29E7AA}"/>
              </a:ext>
            </a:extLst>
          </p:cNvPr>
          <p:cNvGrpSpPr/>
          <p:nvPr/>
        </p:nvGrpSpPr>
        <p:grpSpPr>
          <a:xfrm>
            <a:off x="2362200" y="-147642"/>
            <a:ext cx="5103904" cy="1198311"/>
            <a:chOff x="2648188" y="47148"/>
            <a:chExt cx="5103904" cy="1198311"/>
          </a:xfrm>
        </p:grpSpPr>
        <p:pic>
          <p:nvPicPr>
            <p:cNvPr id="8" name="object 4">
              <a:extLst>
                <a:ext uri="{FF2B5EF4-FFF2-40B4-BE49-F238E27FC236}">
                  <a16:creationId xmlns:a16="http://schemas.microsoft.com/office/drawing/2014/main" id="{5EF21473-8A1A-8AD6-DF11-B5D4AA0F1081}"/>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37FED0CD-2993-409F-1BA3-8D688A854C1F}"/>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4262ACEA-8FC5-D800-BEF9-6B8C27D724D8}"/>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DC8BB1A3-FF96-0A8E-4138-DC4E35ABE1E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5BB628F0-0F00-FB09-2BC7-9DED0D75CDDB}"/>
              </a:ext>
            </a:extLst>
          </p:cNvPr>
          <p:cNvSpPr txBox="1">
            <a:spLocks noGrp="1"/>
          </p:cNvSpPr>
          <p:nvPr>
            <p:ph type="title"/>
          </p:nvPr>
        </p:nvSpPr>
        <p:spPr>
          <a:xfrm>
            <a:off x="3886200" y="105479"/>
            <a:ext cx="2684145" cy="355225"/>
          </a:xfrm>
          <a:prstGeom prst="rect">
            <a:avLst/>
          </a:prstGeom>
        </p:spPr>
        <p:txBody>
          <a:bodyPr vert="horz" wrap="square" lIns="0" tIns="16510" rIns="0" bIns="0" rtlCol="0">
            <a:spAutoFit/>
          </a:bodyPr>
          <a:lstStyle/>
          <a:p>
            <a:pPr marL="12700">
              <a:lnSpc>
                <a:spcPct val="100000"/>
              </a:lnSpc>
              <a:spcBef>
                <a:spcPts val="130"/>
              </a:spcBef>
            </a:pPr>
            <a:r>
              <a:rPr lang="en-US" sz="2200" dirty="0">
                <a:solidFill>
                  <a:schemeClr val="bg1"/>
                </a:solidFill>
                <a:latin typeface="Times New Roman" panose="02020603050405020304" pitchFamily="18" charset="0"/>
                <a:cs typeface="Times New Roman" panose="02020603050405020304" pitchFamily="18" charset="0"/>
              </a:rPr>
              <a:t>System Modules</a:t>
            </a:r>
            <a:endParaRPr lang="en-IN" sz="220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AD0866F3-F768-66D9-CDD4-E4B532144132}"/>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012656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2093C-1604-5399-05A1-AAFE97ED262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E0151DD-36FF-9D6C-F450-D16B3CBBE41A}"/>
              </a:ext>
            </a:extLst>
          </p:cNvPr>
          <p:cNvSpPr txBox="1"/>
          <p:nvPr/>
        </p:nvSpPr>
        <p:spPr>
          <a:xfrm>
            <a:off x="381000" y="1323261"/>
            <a:ext cx="9448800" cy="49699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endParaRPr lang="en-US" sz="2000" dirty="0"/>
          </a:p>
        </p:txBody>
      </p:sp>
      <p:grpSp>
        <p:nvGrpSpPr>
          <p:cNvPr id="7" name="object 3">
            <a:extLst>
              <a:ext uri="{FF2B5EF4-FFF2-40B4-BE49-F238E27FC236}">
                <a16:creationId xmlns:a16="http://schemas.microsoft.com/office/drawing/2014/main" id="{DEC4815B-BEE3-91B0-21B3-9D41D4C2C967}"/>
              </a:ext>
            </a:extLst>
          </p:cNvPr>
          <p:cNvGrpSpPr/>
          <p:nvPr/>
        </p:nvGrpSpPr>
        <p:grpSpPr>
          <a:xfrm>
            <a:off x="2477248" y="-44013"/>
            <a:ext cx="5103904" cy="1198311"/>
            <a:chOff x="2648188" y="47148"/>
            <a:chExt cx="5103904" cy="1198311"/>
          </a:xfrm>
        </p:grpSpPr>
        <p:pic>
          <p:nvPicPr>
            <p:cNvPr id="8" name="object 4">
              <a:extLst>
                <a:ext uri="{FF2B5EF4-FFF2-40B4-BE49-F238E27FC236}">
                  <a16:creationId xmlns:a16="http://schemas.microsoft.com/office/drawing/2014/main" id="{2102AC2A-CFD2-C247-44EE-24B07E4B9226}"/>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2E311846-523D-C91C-D5EC-0D4E0E626F02}"/>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3A7E648D-3CEF-75C8-AA24-F4CB866A3ED2}"/>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680D1C6C-1C3D-4613-05B8-5A2FCA480C4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34DD3D3A-A0E6-DE83-9C43-7043747E0ACC}"/>
              </a:ext>
            </a:extLst>
          </p:cNvPr>
          <p:cNvSpPr txBox="1">
            <a:spLocks noGrp="1"/>
          </p:cNvSpPr>
          <p:nvPr>
            <p:ph type="title"/>
          </p:nvPr>
        </p:nvSpPr>
        <p:spPr>
          <a:xfrm>
            <a:off x="3739400" y="200321"/>
            <a:ext cx="2303146" cy="355225"/>
          </a:xfrm>
          <a:prstGeom prst="rect">
            <a:avLst/>
          </a:prstGeom>
        </p:spPr>
        <p:txBody>
          <a:bodyPr vert="horz" wrap="square" lIns="0" tIns="16510" rIns="0" bIns="0" rtlCol="0">
            <a:spAutoFit/>
          </a:bodyPr>
          <a:lstStyle/>
          <a:p>
            <a:pPr marL="12700" algn="ctr">
              <a:lnSpc>
                <a:spcPct val="100000"/>
              </a:lnSpc>
              <a:spcBef>
                <a:spcPts val="130"/>
              </a:spcBef>
            </a:pPr>
            <a:r>
              <a:rPr lang="en-US" sz="2200" dirty="0">
                <a:solidFill>
                  <a:schemeClr val="bg1"/>
                </a:solidFill>
                <a:latin typeface="Times New Roman" panose="02020603050405020304" pitchFamily="18" charset="0"/>
                <a:cs typeface="Times New Roman" panose="02020603050405020304" pitchFamily="18" charset="0"/>
              </a:rPr>
              <a:t> Output</a:t>
            </a:r>
            <a:endParaRPr lang="en-IN" sz="220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56F24D16-80A8-F365-A7E8-4844030642D0}"/>
              </a:ext>
            </a:extLst>
          </p:cNvPr>
          <p:cNvPicPr/>
          <p:nvPr/>
        </p:nvPicPr>
        <p:blipFill>
          <a:blip r:embed="rId5" cstate="print"/>
          <a:stretch>
            <a:fillRect/>
          </a:stretch>
        </p:blipFill>
        <p:spPr>
          <a:xfrm>
            <a:off x="290750" y="204311"/>
            <a:ext cx="1163002" cy="424338"/>
          </a:xfrm>
          <a:prstGeom prst="rect">
            <a:avLst/>
          </a:prstGeom>
        </p:spPr>
      </p:pic>
      <p:pic>
        <p:nvPicPr>
          <p:cNvPr id="3" name="Picture 2" descr="The image displays a user interface for an employee payroll system where the user is guided through entering an employee's details, such as ID, name, salary, allowances, bonus, overtime pay, and deductions, and the process concludes with a successful confirmation message.&#10;&#10;AI-generated content may be incorrect.">
            <a:extLst>
              <a:ext uri="{FF2B5EF4-FFF2-40B4-BE49-F238E27FC236}">
                <a16:creationId xmlns:a16="http://schemas.microsoft.com/office/drawing/2014/main" id="{2366C545-4F21-C3DC-C4F5-99A6B4FF0E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1000" y="1782169"/>
            <a:ext cx="4351903" cy="4419600"/>
          </a:xfrm>
          <a:prstGeom prst="rect">
            <a:avLst/>
          </a:prstGeom>
        </p:spPr>
      </p:pic>
      <p:pic>
        <p:nvPicPr>
          <p:cNvPr id="5" name="Picture 4" descr="The image is an interface for an employee payroll system with options to add an employee, display payroll, calculate payroll, and exit, followed by a summary of gross salary, deductions, and net salary.&#10;&#10;AI-generated content may be incorrect.">
            <a:extLst>
              <a:ext uri="{FF2B5EF4-FFF2-40B4-BE49-F238E27FC236}">
                <a16:creationId xmlns:a16="http://schemas.microsoft.com/office/drawing/2014/main" id="{B7307FFF-2739-F3A9-4EA7-2F60DDA3C3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33915" y="1918301"/>
            <a:ext cx="4800600" cy="4114800"/>
          </a:xfrm>
          <a:prstGeom prst="rect">
            <a:avLst/>
          </a:prstGeom>
        </p:spPr>
      </p:pic>
    </p:spTree>
    <p:extLst>
      <p:ext uri="{BB962C8B-B14F-4D97-AF65-F5344CB8AC3E}">
        <p14:creationId xmlns:p14="http://schemas.microsoft.com/office/powerpoint/2010/main" val="3972877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97A2D-1004-D8AD-B2CE-BA4EC79DE57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A0B68D3-FDE9-C5BD-72F9-7338BC15DDD3}"/>
              </a:ext>
            </a:extLst>
          </p:cNvPr>
          <p:cNvSpPr txBox="1"/>
          <p:nvPr/>
        </p:nvSpPr>
        <p:spPr>
          <a:xfrm>
            <a:off x="381000" y="1283970"/>
            <a:ext cx="9448800" cy="5729197"/>
          </a:xfrm>
          <a:prstGeom prst="rect">
            <a:avLst/>
          </a:prstGeom>
          <a:noFill/>
        </p:spPr>
        <p:txBody>
          <a:bodyPr wrap="square" rtlCol="0">
            <a:spAutoFit/>
          </a:bodyPr>
          <a:lstStyle/>
          <a:p>
            <a:pPr algn="l"/>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Employee Payroll System</a:t>
            </a:r>
            <a:r>
              <a:rPr lang="en-IN" sz="2000" dirty="0">
                <a:latin typeface="Times New Roman" panose="02020603050405020304" pitchFamily="18" charset="0"/>
                <a:cs typeface="Times New Roman" panose="02020603050405020304" pitchFamily="18" charset="0"/>
              </a:rPr>
              <a:t> successfully demonstrates how C++ can be used</a:t>
            </a:r>
          </a:p>
          <a:p>
            <a:pPr algn="l"/>
            <a:endParaRPr lang="en-IN" sz="2000" dirty="0">
              <a:latin typeface="Times New Roman" panose="02020603050405020304" pitchFamily="18" charset="0"/>
              <a:cs typeface="Times New Roman" panose="02020603050405020304" pitchFamily="18" charset="0"/>
            </a:endParaRPr>
          </a:p>
          <a:p>
            <a:pPr algn="l"/>
            <a:r>
              <a:rPr lang="en-IN" sz="2000" dirty="0">
                <a:latin typeface="Times New Roman" panose="02020603050405020304" pitchFamily="18" charset="0"/>
                <a:cs typeface="Times New Roman" panose="02020603050405020304" pitchFamily="18" charset="0"/>
              </a:rPr>
              <a:t>to solve a real-world payroll management problem.</a:t>
            </a:r>
          </a:p>
          <a:p>
            <a:pPr algn="l"/>
            <a:endParaRPr lang="en-IN" sz="2000" dirty="0">
              <a:latin typeface="Times New Roman" panose="02020603050405020304" pitchFamily="18" charset="0"/>
              <a:cs typeface="Times New Roman" panose="02020603050405020304" pitchFamily="18" charset="0"/>
            </a:endParaRPr>
          </a:p>
          <a:p>
            <a:pPr marL="342900" lvl="0" indent="-34290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simplifies employee salary calculations. </a:t>
            </a:r>
          </a:p>
          <a:p>
            <a:pPr marL="342900" lvl="0" indent="-342900" algn="l">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reduces manual effort and calculation errors. </a:t>
            </a:r>
          </a:p>
          <a:p>
            <a:pPr marL="342900" lvl="0" indent="-342900" algn="l">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menu-driven approach makes the system easy to operate. </a:t>
            </a:r>
          </a:p>
          <a:p>
            <a:pPr marL="342900" lvl="0" indent="-342900" algn="l">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project demonstrates important C++ concepts such as classes, functions,</a:t>
            </a:r>
          </a:p>
          <a:p>
            <a:pPr marL="342900" lvl="0" indent="-342900" algn="l">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conditions, and loops. </a:t>
            </a:r>
          </a:p>
          <a:p>
            <a:pPr marL="342900" lvl="0" indent="-342900" algn="l">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can be enhanced in the future by adding </a:t>
            </a:r>
            <a:r>
              <a:rPr lang="en-IN" sz="2000" b="1" dirty="0">
                <a:latin typeface="Times New Roman" panose="02020603050405020304" pitchFamily="18" charset="0"/>
                <a:cs typeface="Times New Roman" panose="02020603050405020304" pitchFamily="18" charset="0"/>
              </a:rPr>
              <a:t>file handling, database</a:t>
            </a:r>
          </a:p>
          <a:p>
            <a:pPr marL="342900" lvl="0" indent="-342900" algn="l">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lvl="0" algn="l"/>
            <a:r>
              <a:rPr lang="en-IN" sz="2000" b="1" dirty="0">
                <a:latin typeface="Times New Roman" panose="02020603050405020304" pitchFamily="18" charset="0"/>
                <a:cs typeface="Times New Roman" panose="02020603050405020304" pitchFamily="18" charset="0"/>
              </a:rPr>
              <a:t>      connectivity, search/update/delete options, and a graphical user interface</a:t>
            </a:r>
            <a:r>
              <a:rPr lang="en-IN" sz="20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endParaRPr lang="en-US" sz="2000" dirty="0"/>
          </a:p>
        </p:txBody>
      </p:sp>
      <p:grpSp>
        <p:nvGrpSpPr>
          <p:cNvPr id="7" name="object 3">
            <a:extLst>
              <a:ext uri="{FF2B5EF4-FFF2-40B4-BE49-F238E27FC236}">
                <a16:creationId xmlns:a16="http://schemas.microsoft.com/office/drawing/2014/main" id="{844CED16-51CA-7042-FC41-D168D44B6130}"/>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B0081BB6-0EFE-0CE3-35E8-6D190CDDA4F4}"/>
                </a:ext>
              </a:extLst>
            </p:cNvPr>
            <p:cNvPicPr/>
            <p:nvPr/>
          </p:nvPicPr>
          <p:blipFill>
            <a:blip r:embed="rId3"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B41E4285-F470-E4AB-5D2F-856067408DCD}"/>
                </a:ext>
              </a:extLst>
            </p:cNvPr>
            <p:cNvPicPr/>
            <p:nvPr/>
          </p:nvPicPr>
          <p:blipFill>
            <a:blip r:embed="rId4"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36AD4099-9B3F-0168-95FF-B479049D2A16}"/>
                </a:ext>
              </a:extLst>
            </p:cNvPr>
            <p:cNvPicPr/>
            <p:nvPr/>
          </p:nvPicPr>
          <p:blipFill>
            <a:blip r:embed="rId5"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B1A38FE9-BFDC-975F-5D36-83B2BB33CFC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B4616FF-69AB-2AA1-45C5-37913979A867}"/>
              </a:ext>
            </a:extLst>
          </p:cNvPr>
          <p:cNvSpPr txBox="1">
            <a:spLocks noGrp="1"/>
          </p:cNvSpPr>
          <p:nvPr>
            <p:ph type="title"/>
          </p:nvPr>
        </p:nvSpPr>
        <p:spPr>
          <a:xfrm>
            <a:off x="3569050" y="416480"/>
            <a:ext cx="2684145" cy="355225"/>
          </a:xfrm>
          <a:prstGeom prst="rect">
            <a:avLst/>
          </a:prstGeom>
        </p:spPr>
        <p:txBody>
          <a:bodyPr vert="horz" wrap="square" lIns="0" tIns="16510" rIns="0" bIns="0" rtlCol="0">
            <a:spAutoFit/>
          </a:bodyPr>
          <a:lstStyle/>
          <a:p>
            <a:pPr marL="12700" algn="ctr">
              <a:lnSpc>
                <a:spcPct val="100000"/>
              </a:lnSpc>
              <a:spcBef>
                <a:spcPts val="130"/>
              </a:spcBef>
            </a:pPr>
            <a:r>
              <a:rPr lang="en-US" sz="2200" dirty="0">
                <a:solidFill>
                  <a:schemeClr val="bg1"/>
                </a:solidFill>
                <a:latin typeface="Times New Roman" panose="02020603050405020304" pitchFamily="18" charset="0"/>
                <a:cs typeface="Times New Roman" panose="02020603050405020304" pitchFamily="18" charset="0"/>
              </a:rPr>
              <a:t>Conclusion</a:t>
            </a:r>
            <a:endParaRPr lang="en-IN" sz="220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48FDF283-9C9B-6119-B9D3-73A2C331C1C0}"/>
              </a:ext>
            </a:extLst>
          </p:cNvPr>
          <p:cNvPicPr/>
          <p:nvPr/>
        </p:nvPicPr>
        <p:blipFill>
          <a:blip r:embed="rId6"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045202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3336d00-5783-440d-aaec-dc2dd5431f85" xsi:nil="true"/>
    <lcf76f155ced4ddcb4097134ff3c332f xmlns="4082c0bb-5c1c-4a65-9c05-5ca7c5b527b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103786F8930334DB11C8BF7C06838CA" ma:contentTypeVersion="15" ma:contentTypeDescription="Create a new document." ma:contentTypeScope="" ma:versionID="6b9eaf5113336904390b279be468c446">
  <xsd:schema xmlns:xsd="http://www.w3.org/2001/XMLSchema" xmlns:xs="http://www.w3.org/2001/XMLSchema" xmlns:p="http://schemas.microsoft.com/office/2006/metadata/properties" xmlns:ns2="4082c0bb-5c1c-4a65-9c05-5ca7c5b527bd" xmlns:ns3="b3336d00-5783-440d-aaec-dc2dd5431f85" targetNamespace="http://schemas.microsoft.com/office/2006/metadata/properties" ma:root="true" ma:fieldsID="e8043eb11d1c649ab67dfe37da9f9482" ns2:_="" ns3:_="">
    <xsd:import namespace="4082c0bb-5c1c-4a65-9c05-5ca7c5b527bd"/>
    <xsd:import namespace="b3336d00-5783-440d-aaec-dc2dd5431f8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82c0bb-5c1c-4a65-9c05-5ca7c5b527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5c5a09c8-492f-40d8-9b5b-f29886c77acc"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336d00-5783-440d-aaec-dc2dd5431f85"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9859df9-7e17-4069-a189-3cde510b1a55}" ma:internalName="TaxCatchAll" ma:showField="CatchAllData" ma:web="b3336d00-5783-440d-aaec-dc2dd5431f85">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08803F-63E6-4692-B779-309175DFDA14}">
  <ds:schemaRefs>
    <ds:schemaRef ds:uri="4082c0bb-5c1c-4a65-9c05-5ca7c5b527bd"/>
    <ds:schemaRef ds:uri="http://purl.org/dc/terms/"/>
    <ds:schemaRef ds:uri="http://schemas.microsoft.com/office/2006/documentManagement/types"/>
    <ds:schemaRef ds:uri="b3336d00-5783-440d-aaec-dc2dd5431f85"/>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9A4A58FA-A29B-4422-9A55-23EFE59585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082c0bb-5c1c-4a65-9c05-5ca7c5b527bd"/>
    <ds:schemaRef ds:uri="b3336d00-5783-440d-aaec-dc2dd5431f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D1DA1DA-94AB-40BB-8D75-C7363C9786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2723</TotalTime>
  <Words>664</Words>
  <Application>Microsoft Office PowerPoint</Application>
  <PresentationFormat>Custom</PresentationFormat>
  <Paragraphs>174</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Cambria</vt:lpstr>
      <vt:lpstr>Palatino Linotype</vt:lpstr>
      <vt:lpstr>Times New Roman</vt:lpstr>
      <vt:lpstr>Office Theme</vt:lpstr>
      <vt:lpstr>Object Oriented Programming with C++ Project</vt:lpstr>
      <vt:lpstr>PowerPoint Presentation</vt:lpstr>
      <vt:lpstr>Abstract</vt:lpstr>
      <vt:lpstr>Introduction</vt:lpstr>
      <vt:lpstr>Problem Statement</vt:lpstr>
      <vt:lpstr>Objectives</vt:lpstr>
      <vt:lpstr>Proposed System</vt:lpstr>
      <vt:lpstr>System Flowchart</vt:lpstr>
      <vt:lpstr>C++ Concepts used</vt:lpstr>
      <vt:lpstr>System Modules</vt:lpstr>
      <vt:lpstr> Output</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sahithi</cp:lastModifiedBy>
  <cp:revision>57</cp:revision>
  <cp:lastPrinted>2025-10-14T18:21:49Z</cp:lastPrinted>
  <dcterms:created xsi:type="dcterms:W3CDTF">2025-10-10T08:28:06Z</dcterms:created>
  <dcterms:modified xsi:type="dcterms:W3CDTF">2026-10-26T10:17:55Z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y fmtid="{D5CDD505-2E9C-101B-9397-08002B2CF9AE}" pid="4" name="ContentTypeId">
    <vt:lpwstr>0x010100D103786F8930334DB11C8BF7C06838CA</vt:lpwstr>
  </property>
</Properties>
</file>